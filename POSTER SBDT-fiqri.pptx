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35999420" cy="25191720"/>
  <p:notesSz cx="6858000" cy="9144000"/>
  <p:defaultTextStyle>
    <a:defPPr>
      <a:defRPr lang="en-US"/>
    </a:defPPr>
    <a:lvl1pPr marL="0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1pPr>
    <a:lvl2pPr marL="1799590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2pPr>
    <a:lvl3pPr marL="3599815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3pPr>
    <a:lvl4pPr marL="5399405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4pPr>
    <a:lvl5pPr marL="7199630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5pPr>
    <a:lvl6pPr marL="8999220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6pPr>
    <a:lvl7pPr marL="10799445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7pPr>
    <a:lvl8pPr marL="12599035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8pPr>
    <a:lvl9pPr marL="14399260" algn="l" defTabSz="3599815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29" userDrawn="1">
          <p15:clr>
            <a:srgbClr val="A4A3A4"/>
          </p15:clr>
        </p15:guide>
        <p15:guide id="2" orient="horz" pos="315" userDrawn="1">
          <p15:clr>
            <a:srgbClr val="A4A3A4"/>
          </p15:clr>
        </p15:guide>
        <p15:guide id="3" orient="horz" pos="22047" userDrawn="1">
          <p15:clr>
            <a:srgbClr val="A4A3A4"/>
          </p15:clr>
        </p15:guide>
        <p15:guide id="4" orient="horz" pos="0" userDrawn="1">
          <p15:clr>
            <a:srgbClr val="A4A3A4"/>
          </p15:clr>
        </p15:guide>
        <p15:guide id="5" pos="334" userDrawn="1">
          <p15:clr>
            <a:srgbClr val="A4A3A4"/>
          </p15:clr>
        </p15:guide>
        <p15:guide id="6" pos="15537" userDrawn="1">
          <p15:clr>
            <a:srgbClr val="A4A3A4"/>
          </p15:clr>
        </p15:guide>
        <p15:guide id="7" orient="horz" pos="2576" userDrawn="1">
          <p15:clr>
            <a:srgbClr val="A4A3A4"/>
          </p15:clr>
        </p15:guide>
        <p15:guide id="8" orient="horz" pos="243" userDrawn="1">
          <p15:clr>
            <a:srgbClr val="A4A3A4"/>
          </p15:clr>
        </p15:guide>
        <p15:guide id="9" orient="horz" pos="15428" userDrawn="1">
          <p15:clr>
            <a:srgbClr val="A4A3A4"/>
          </p15:clr>
        </p15:guide>
        <p15:guide id="10" pos="477" userDrawn="1">
          <p15:clr>
            <a:srgbClr val="A4A3A4"/>
          </p15:clr>
        </p15:guide>
        <p15:guide id="11" pos="222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5FA"/>
    <a:srgbClr val="CDD2DE"/>
    <a:srgbClr val="E3E9E5"/>
    <a:srgbClr val="EAEA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4" autoAdjust="0"/>
    <p:restoredTop sz="94701" autoAdjust="0"/>
  </p:normalViewPr>
  <p:slideViewPr>
    <p:cSldViewPr snapToGrid="0" snapToObjects="1" showGuides="1">
      <p:cViewPr varScale="1">
        <p:scale>
          <a:sx n="23" d="100"/>
          <a:sy n="23" d="100"/>
        </p:scale>
        <p:origin x="-1884" y="-150"/>
      </p:cViewPr>
      <p:guideLst>
        <p:guide orient="horz" pos="3629"/>
        <p:guide orient="horz" pos="315"/>
        <p:guide orient="horz" pos="22047"/>
        <p:guide orient="horz"/>
        <p:guide pos="334"/>
        <p:guide pos="15537"/>
        <p:guide orient="horz" pos="2576"/>
        <p:guide orient="horz" pos="243"/>
        <p:guide orient="horz" pos="15428"/>
        <p:guide pos="477"/>
        <p:guide pos="222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70" d="100"/>
          <a:sy n="70" d="100"/>
        </p:scale>
        <p:origin x="-3294" y="-90"/>
      </p:cViewPr>
      <p:guideLst>
        <p:guide orient="horz" pos="2881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C5BC-9A70-462C-B28D-9600239EAC6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131B7-05CA-4AEE-9267-6D0ED4DC84F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2317-6751-4CD4-9995-8782DD78E936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685800"/>
            <a:ext cx="48990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1A87D-CAF7-4BDC-A0D3-C0DBEDE8161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799590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3599815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5399405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7199630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8999220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10799445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12599035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14399260" algn="l" defTabSz="3599815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9488" y="685800"/>
            <a:ext cx="48990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2971" y="4563979"/>
            <a:ext cx="13772772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27861" y="3994116"/>
            <a:ext cx="13761902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INTRODUCTION or ABSTRACT</a:t>
            </a:r>
            <a:endParaRPr lang="en-US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27857" y="10840970"/>
            <a:ext cx="13765265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 OBJECTIVES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4145861" y="16932818"/>
            <a:ext cx="13686189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 CONCLUSIONS</a:t>
            </a:r>
            <a:endParaRPr lang="en-US" dirty="0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4145861" y="17467707"/>
            <a:ext cx="13686189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8089793" y="16932818"/>
            <a:ext cx="7479930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 REFERENCES</a:t>
            </a:r>
            <a:endParaRPr lang="en-US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8093435" y="17499698"/>
            <a:ext cx="7482797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95123" y="22562503"/>
            <a:ext cx="13791809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 ACKNOWLEDGEMENTS 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99881" y="23202429"/>
            <a:ext cx="13798718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112970" y="11443920"/>
            <a:ext cx="13773962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76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337306" y="2428746"/>
            <a:ext cx="26797792" cy="8958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60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 smtClean="0"/>
              <a:t>Click here to add affiliations</a:t>
            </a:r>
            <a:endParaRPr lang="en-US" dirty="0"/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337306" y="1532911"/>
            <a:ext cx="26797792" cy="895835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8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  <p:sp>
        <p:nvSpPr>
          <p:cNvPr id="80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4337306" y="386683"/>
            <a:ext cx="26797792" cy="1146227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11500" b="1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 smtClean="0"/>
              <a:t>Click here to add title</a:t>
            </a:r>
            <a:endParaRPr lang="en-US" dirty="0"/>
          </a:p>
        </p:txBody>
      </p:sp>
      <p:pic>
        <p:nvPicPr>
          <p:cNvPr id="15" name="Picture 54" descr="D:\!USER DATA\Indri\Backup Komp UEU 6 Mei 2015\Gambar\ueu\logo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47" y="406040"/>
            <a:ext cx="3634878" cy="2756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5"/>
          <p:cNvSpPr>
            <a:spLocks noGrp="1"/>
          </p:cNvSpPr>
          <p:nvPr>
            <p:ph type="body" sz="quarter" idx="154" hasCustomPrompt="1"/>
          </p:nvPr>
        </p:nvSpPr>
        <p:spPr>
          <a:xfrm>
            <a:off x="118092" y="16940223"/>
            <a:ext cx="13765265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 </a:t>
            </a:r>
            <a:r>
              <a:rPr lang="id-ID" dirty="0" smtClean="0"/>
              <a:t>METHODS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5" hasCustomPrompt="1"/>
          </p:nvPr>
        </p:nvSpPr>
        <p:spPr>
          <a:xfrm>
            <a:off x="103206" y="17543174"/>
            <a:ext cx="13773962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156" hasCustomPrompt="1"/>
          </p:nvPr>
        </p:nvSpPr>
        <p:spPr>
          <a:xfrm>
            <a:off x="14046447" y="4002600"/>
            <a:ext cx="21844833" cy="659288"/>
          </a:xfrm>
          <a:prstGeom prst="rect">
            <a:avLst/>
          </a:prstGeom>
          <a:noFill/>
        </p:spPr>
        <p:txBody>
          <a:bodyPr wrap="square" lIns="74996" tIns="74996" rIns="74996" bIns="74996" anchor="ctr" anchorCtr="0">
            <a:spAutoFit/>
          </a:bodyPr>
          <a:lstStyle>
            <a:lvl1pPr marL="0" indent="0" algn="ctr">
              <a:buNone/>
              <a:defRPr sz="33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(click to edit)  </a:t>
            </a:r>
            <a:r>
              <a:rPr lang="id-ID" dirty="0" smtClean="0"/>
              <a:t>RESULT AND DISCUSSION</a:t>
            </a:r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quarter" idx="157" hasCustomPrompt="1"/>
          </p:nvPr>
        </p:nvSpPr>
        <p:spPr>
          <a:xfrm>
            <a:off x="14060135" y="4633719"/>
            <a:ext cx="21858635" cy="686416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8565" indent="-468630">
              <a:defRPr sz="2100">
                <a:latin typeface="Trebuchet MS" panose="020B0603020202020204" pitchFamily="34" charset="0"/>
              </a:defRPr>
            </a:lvl2pPr>
            <a:lvl3pPr marL="1687195" indent="-468630">
              <a:defRPr sz="2100">
                <a:latin typeface="Trebuchet MS" panose="020B0603020202020204" pitchFamily="34" charset="0"/>
              </a:defRPr>
            </a:lvl3pPr>
            <a:lvl4pPr marL="2202815" indent="-515620">
              <a:defRPr sz="2100">
                <a:latin typeface="Trebuchet MS" panose="020B0603020202020204" pitchFamily="34" charset="0"/>
              </a:defRPr>
            </a:lvl4pPr>
            <a:lvl5pPr marL="2578100" indent="-375285">
              <a:defRPr sz="2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-18074220" y="-33678"/>
            <a:ext cx="17504290" cy="2522571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457200" bIns="0" rtlCol="0" anchor="t" anchorCtr="0"/>
          <a:lstStyle/>
          <a:p>
            <a:pPr marL="0" marR="0" indent="0" algn="ctr" defTabSz="15182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spc="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(—</a:t>
            </a:r>
            <a:r>
              <a:rPr lang="id-ID" sz="3200" b="1" spc="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Bagian ini tidak tercetak</a:t>
            </a:r>
            <a:r>
              <a:rPr lang="en-US" sz="3200" b="1" spc="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—)</a:t>
            </a:r>
            <a:endParaRPr lang="en-US" sz="32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spc="6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PANDUAN POSTER</a:t>
            </a:r>
            <a:endParaRPr lang="en-US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en-US" sz="2800" b="1" dirty="0" smtClean="0">
              <a:latin typeface="Trebuchet MS" panose="020B0603020202020204" pitchFamily="34" charset="0"/>
            </a:endParaRPr>
          </a:p>
          <a:p>
            <a:pPr algn="ctr" defTabSz="3765550"/>
            <a:r>
              <a:rPr lang="id-ID" sz="2800" i="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Ini adalah template poster ukuran </a:t>
            </a:r>
            <a:r>
              <a:rPr lang="en-US" sz="2800" i="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70cmx100cm</a:t>
            </a:r>
            <a:endParaRPr lang="id-ID" sz="2800" i="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 defTabSz="3765550"/>
            <a:endParaRPr lang="id-ID" sz="2800" b="1" i="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 defTabSz="3765550"/>
            <a:r>
              <a:rPr lang="id-ID" sz="2800" b="1" i="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Layout poster dapat diubah sesuai kreatifitas masing-masing </a:t>
            </a:r>
            <a:br>
              <a:rPr lang="id-ID" sz="2800" b="1" i="0" dirty="0" smtClean="0">
                <a:solidFill>
                  <a:schemeClr val="bg1"/>
                </a:solidFill>
                <a:latin typeface="Trebuchet MS" panose="020B0603020202020204" pitchFamily="34" charset="0"/>
              </a:rPr>
            </a:br>
            <a:r>
              <a:rPr lang="id-ID" sz="2800" b="1" i="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(layout 2 kolom/ 3 kolom/ 4 kolom)</a:t>
            </a:r>
            <a:endParaRPr lang="en-US" sz="36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id-ID" sz="24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en-US" sz="24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0" marR="0" indent="0" algn="ctr" defTabSz="3599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d-ID" sz="4000" b="1" spc="6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PANDUAN POSTER</a:t>
            </a:r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ukuran 70x100cm</a:t>
            </a:r>
            <a:endParaRPr lang="id-ID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Layout poster dapat diubah sesuai kreativitas masing-masing :</a:t>
            </a:r>
            <a:endParaRPr lang="id-ID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marL="571500" indent="-571500" algn="ctr">
              <a:buFontTx/>
              <a:buChar char="-"/>
            </a:pPr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Landscape/portrait</a:t>
            </a:r>
            <a:endParaRPr lang="id-ID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marL="571500" indent="-571500" algn="ctr">
              <a:buFontTx/>
              <a:buChar char="-"/>
            </a:pPr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Layout 3 kolom/4 kolom</a:t>
            </a:r>
            <a:endParaRPr lang="id-ID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4000" b="1" spc="600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spc="6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IDENTITAS POSTER</a:t>
            </a:r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Judul</a:t>
            </a:r>
            <a:r>
              <a:rPr lang="en-US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, </a:t>
            </a:r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Penulis</a:t>
            </a:r>
            <a:r>
              <a:rPr lang="en-US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, </a:t>
            </a:r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dan Afiliasi</a:t>
            </a:r>
            <a:endParaRPr lang="id-ID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Nama Pembimbing</a:t>
            </a:r>
            <a:endParaRPr lang="id-ID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en-US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spc="6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ISI POSTER</a:t>
            </a:r>
            <a:endParaRPr lang="id-ID" sz="40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0" marR="0" indent="0" algn="ctr" defTabSz="3599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d-ID" sz="4000" b="1" baseline="0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Pendahuluan atau Abstrak</a:t>
            </a:r>
            <a:endParaRPr lang="en-US" sz="4000" b="1" baseline="0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Tujuan</a:t>
            </a:r>
            <a:endParaRPr lang="id-ID" sz="40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Metode</a:t>
            </a:r>
            <a:endParaRPr lang="id-ID" sz="40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Hasil dan Diskusi</a:t>
            </a:r>
            <a:endParaRPr lang="id-ID" sz="40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Kesimpulan</a:t>
            </a:r>
            <a:endParaRPr lang="id-ID" sz="40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r>
              <a:rPr lang="id-ID" sz="4000" b="1" dirty="0" smtClean="0">
                <a:solidFill>
                  <a:srgbClr val="FFC000"/>
                </a:solidFill>
                <a:latin typeface="Trebuchet MS" panose="020B0603020202020204" pitchFamily="34" charset="0"/>
              </a:rPr>
              <a:t>Acknowledgement</a:t>
            </a:r>
            <a:endParaRPr lang="id-ID" sz="40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marL="0" marR="0" indent="0" algn="ctr" defTabSz="3599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id-ID" sz="3200" b="1" spc="600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0" marR="0" indent="0" algn="ctr" defTabSz="3599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d-ID" sz="3200" b="1" spc="6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Fakultas Ilmu Komputer, 2017</a:t>
            </a:r>
            <a:endParaRPr lang="id-ID" sz="3200" b="1" dirty="0" smtClean="0">
              <a:solidFill>
                <a:srgbClr val="FFC000"/>
              </a:solidFill>
              <a:latin typeface="Trebuchet MS" panose="020B0603020202020204" pitchFamily="34" charset="0"/>
            </a:endParaRPr>
          </a:p>
          <a:p>
            <a:pPr algn="ctr"/>
            <a:endParaRPr lang="en-US" sz="2800" b="0" dirty="0" smtClean="0">
              <a:latin typeface="Trebuchet MS" panose="020B0603020202020204" pitchFamily="34" charset="0"/>
            </a:endParaRPr>
          </a:p>
        </p:txBody>
      </p:sp>
      <p:sp>
        <p:nvSpPr>
          <p:cNvPr id="36" name="Rounded Rectangle 35"/>
          <p:cNvSpPr/>
          <p:nvPr userDrawn="1"/>
        </p:nvSpPr>
        <p:spPr>
          <a:xfrm>
            <a:off x="0" y="0"/>
            <a:ext cx="35999738" cy="3657345"/>
          </a:xfrm>
          <a:prstGeom prst="roundRect">
            <a:avLst>
              <a:gd name="adj" fmla="val 1956"/>
            </a:avLst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0" y="3695879"/>
            <a:ext cx="35999738" cy="0"/>
          </a:xfrm>
          <a:prstGeom prst="line">
            <a:avLst/>
          </a:prstGeom>
          <a:ln w="174625" cmpd="sng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 userDrawn="1"/>
        </p:nvSpPr>
        <p:spPr>
          <a:xfrm>
            <a:off x="87158" y="4023744"/>
            <a:ext cx="13821352" cy="20468422"/>
          </a:xfrm>
          <a:prstGeom prst="roundRect">
            <a:avLst>
              <a:gd name="adj" fmla="val 1956"/>
            </a:avLst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8" name="Picture 54" descr="D:\!USER DATA\Indri\Backup Komp UEU 6 Mei 2015\Gambar\ueu\logo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21179" y="14438498"/>
            <a:ext cx="7613279" cy="375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ounded Rectangle 64"/>
          <p:cNvSpPr/>
          <p:nvPr userDrawn="1"/>
        </p:nvSpPr>
        <p:spPr>
          <a:xfrm>
            <a:off x="14023311" y="4023744"/>
            <a:ext cx="21890702" cy="20468422"/>
          </a:xfrm>
          <a:prstGeom prst="roundRect">
            <a:avLst>
              <a:gd name="adj" fmla="val 1956"/>
            </a:avLst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 userDrawn="1"/>
        </p:nvSpPr>
        <p:spPr>
          <a:xfrm>
            <a:off x="87157" y="22402800"/>
            <a:ext cx="35826856" cy="2714625"/>
          </a:xfrm>
          <a:prstGeom prst="roundRect">
            <a:avLst>
              <a:gd name="adj" fmla="val 1956"/>
            </a:avLst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ctr" defTabSz="3599815" rtl="0" eaLnBrk="1" latinLnBrk="0" hangingPunct="1">
        <a:spcBef>
          <a:spcPct val="0"/>
        </a:spcBef>
        <a:buNone/>
        <a:defRPr sz="7200" kern="120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1350010" indent="-1350010" algn="l" defTabSz="3599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1pPr>
      <a:lvl2pPr marL="2924810" indent="-1125220" algn="l" defTabSz="3599815" rtl="0" eaLnBrk="1" latinLnBrk="0" hangingPunct="1">
        <a:spcBef>
          <a:spcPct val="20000"/>
        </a:spcBef>
        <a:buFont typeface="Arial" panose="020B0604020202020204" pitchFamily="34" charset="0"/>
        <a:buChar char="–"/>
        <a:defRPr sz="11100" kern="1200">
          <a:solidFill>
            <a:schemeClr val="tx1"/>
          </a:solidFill>
          <a:latin typeface="+mn-lt"/>
          <a:ea typeface="+mn-ea"/>
          <a:cs typeface="+mn-cs"/>
        </a:defRPr>
      </a:lvl2pPr>
      <a:lvl3pPr marL="4499610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3pPr>
      <a:lvl4pPr marL="6299835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–"/>
        <a:defRPr sz="7900" kern="1200">
          <a:solidFill>
            <a:schemeClr val="tx1"/>
          </a:solidFill>
          <a:latin typeface="+mn-lt"/>
          <a:ea typeface="+mn-ea"/>
          <a:cs typeface="+mn-cs"/>
        </a:defRPr>
      </a:lvl4pPr>
      <a:lvl5pPr marL="8099425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»"/>
        <a:defRPr sz="7900" kern="1200">
          <a:solidFill>
            <a:schemeClr val="tx1"/>
          </a:solidFill>
          <a:latin typeface="+mn-lt"/>
          <a:ea typeface="+mn-ea"/>
          <a:cs typeface="+mn-cs"/>
        </a:defRPr>
      </a:lvl5pPr>
      <a:lvl6pPr marL="9899650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6pPr>
      <a:lvl7pPr marL="11699240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7pPr>
      <a:lvl8pPr marL="13499465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8pPr>
      <a:lvl9pPr marL="15299055" indent="-899795" algn="l" defTabSz="3599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1pPr>
      <a:lvl2pPr marL="1799590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2pPr>
      <a:lvl3pPr marL="3599815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3pPr>
      <a:lvl4pPr marL="5399405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4pPr>
      <a:lvl5pPr marL="7199630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5pPr>
      <a:lvl6pPr marL="8999220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6pPr>
      <a:lvl7pPr marL="10799445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9035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8pPr>
      <a:lvl9pPr marL="14399260" algn="l" defTabSz="3599815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Placeholder 455"/>
          <p:cNvSpPr>
            <a:spLocks noGrp="1"/>
          </p:cNvSpPr>
          <p:nvPr>
            <p:ph type="body" sz="quarter" idx="10"/>
          </p:nvPr>
        </p:nvSpPr>
        <p:spPr>
          <a:xfrm>
            <a:off x="177324" y="4496691"/>
            <a:ext cx="13582343" cy="66071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id-ID" sz="2500">
                <a:latin typeface="Times New Roman" panose="02020603050405020304" pitchFamily="18" charset="0"/>
                <a:cs typeface="Times New Roman" panose="02020603050405020304" pitchFamily="18" charset="0"/>
              </a:rPr>
              <a:t>Maraknya penggalangan dana sosial di media sosial seringkali terkendala masalah transparansi dan kepercayaan donatur. Beredarnya kasus penipuan dan penyalahgunaan dana membuat publik was-was untuk berdonasi secara daring.</a:t>
            </a: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id-ID" sz="2500">
                <a:latin typeface="Times New Roman" panose="02020603050405020304" pitchFamily="18" charset="0"/>
                <a:cs typeface="Times New Roman" panose="02020603050405020304" pitchFamily="18" charset="0"/>
              </a:rPr>
              <a:t>Banyak calon donatur yang malas atau enggan membuat akun di platform donasi karena proses registrasi yang berbelit-belit, memakan waktu, dan meminta terlalu banyak data pribadi. Hal ini menjadi penghambat utama yang menyebabkan banyak potensi donasi hilang.</a:t>
            </a: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id-ID" sz="2500">
                <a:latin typeface="Times New Roman" panose="02020603050405020304" pitchFamily="18" charset="0"/>
                <a:cs typeface="Times New Roman" panose="02020603050405020304" pitchFamily="18" charset="0"/>
              </a:rPr>
              <a:t>Fundunity hadir sebagai web service yang menjembatani donatur dan penerima manfaat (yayasan/individu) dengan sistem yang terintegrasi, aman, dan mudah diakses oleh seluruh lapisan masyarakat, termasuk yang awam teknologi.</a:t>
            </a: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id-ID" sz="2500">
                <a:latin typeface="Times New Roman" panose="02020603050405020304" pitchFamily="18" charset="0"/>
                <a:cs typeface="Times New Roman" panose="02020603050405020304" pitchFamily="18" charset="0"/>
              </a:rPr>
              <a:t>Dengan pendekatan ini, Fundunity bertujuan meminimalisir potensi penipuan, meningkatkan akuntabilitas, serta membangun ekosistem donasi digital yang lebih transparan, terpercaya, dan berkeadilan bagi seluruh pihak.</a:t>
            </a:r>
            <a:endParaRPr lang="en-US" altLang="id-ID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Text Placeholder 456"/>
          <p:cNvSpPr>
            <a:spLocks noGrp="1"/>
          </p:cNvSpPr>
          <p:nvPr>
            <p:ph type="body" sz="quarter" idx="11"/>
          </p:nvPr>
        </p:nvSpPr>
        <p:spPr>
          <a:xfrm>
            <a:off x="192507" y="3961802"/>
            <a:ext cx="13571622" cy="659288"/>
          </a:xfrm>
        </p:spPr>
        <p:txBody>
          <a:bodyPr/>
          <a:lstStyle/>
          <a:p>
            <a:r>
              <a:rPr lang="id-ID" dirty="0" smtClean="0"/>
              <a:t>PENDAHULUAN</a:t>
            </a:r>
            <a:endParaRPr lang="en-US" dirty="0"/>
          </a:p>
        </p:txBody>
      </p:sp>
      <p:sp>
        <p:nvSpPr>
          <p:cNvPr id="460" name="Text Placeholder 459"/>
          <p:cNvSpPr>
            <a:spLocks noGrp="1"/>
          </p:cNvSpPr>
          <p:nvPr>
            <p:ph type="body" sz="quarter" idx="20"/>
          </p:nvPr>
        </p:nvSpPr>
        <p:spPr>
          <a:xfrm>
            <a:off x="270731" y="10813921"/>
            <a:ext cx="13495295" cy="659288"/>
          </a:xfrm>
        </p:spPr>
        <p:txBody>
          <a:bodyPr/>
          <a:lstStyle/>
          <a:p>
            <a:r>
              <a:rPr lang="id-ID" dirty="0" smtClean="0"/>
              <a:t>TUJUAN</a:t>
            </a:r>
            <a:endParaRPr lang="en-US" dirty="0"/>
          </a:p>
        </p:txBody>
      </p:sp>
      <p:sp>
        <p:nvSpPr>
          <p:cNvPr id="461" name="Text Placeholder 460"/>
          <p:cNvSpPr>
            <a:spLocks noGrp="1"/>
          </p:cNvSpPr>
          <p:nvPr>
            <p:ph type="body" sz="quarter" idx="25"/>
          </p:nvPr>
        </p:nvSpPr>
        <p:spPr>
          <a:xfrm>
            <a:off x="14104822" y="18163444"/>
            <a:ext cx="10163777" cy="659288"/>
          </a:xfrm>
        </p:spPr>
        <p:txBody>
          <a:bodyPr/>
          <a:lstStyle/>
          <a:p>
            <a:r>
              <a:rPr lang="id-ID" dirty="0" smtClean="0"/>
              <a:t>KESIMPULAN</a:t>
            </a:r>
            <a:endParaRPr lang="en-US" dirty="0"/>
          </a:p>
        </p:txBody>
      </p:sp>
      <p:sp>
        <p:nvSpPr>
          <p:cNvPr id="463" name="Text Placeholder 462"/>
          <p:cNvSpPr>
            <a:spLocks noGrp="1"/>
          </p:cNvSpPr>
          <p:nvPr>
            <p:ph type="body" sz="quarter" idx="27"/>
          </p:nvPr>
        </p:nvSpPr>
        <p:spPr>
          <a:xfrm>
            <a:off x="24505915" y="18092670"/>
            <a:ext cx="11246334" cy="719405"/>
          </a:xfrm>
        </p:spPr>
        <p:txBody>
          <a:bodyPr/>
          <a:lstStyle/>
          <a:p>
            <a:r>
              <a:rPr lang="id-ID" dirty="0" smtClean="0"/>
              <a:t>REFERENSI</a:t>
            </a:r>
            <a:endParaRPr lang="en-US" dirty="0"/>
          </a:p>
        </p:txBody>
      </p:sp>
      <p:sp>
        <p:nvSpPr>
          <p:cNvPr id="464" name="Text Placeholder 463"/>
          <p:cNvSpPr>
            <a:spLocks noGrp="1"/>
          </p:cNvSpPr>
          <p:nvPr>
            <p:ph type="body" sz="quarter" idx="28"/>
          </p:nvPr>
        </p:nvSpPr>
        <p:spPr>
          <a:xfrm>
            <a:off x="14104821" y="18951997"/>
            <a:ext cx="10164879" cy="3375025"/>
          </a:xfrm>
        </p:spPr>
        <p:txBody>
          <a:bodyPr/>
          <a:lstStyle/>
          <a:p>
            <a:pPr marL="457200" indent="-457200">
              <a:lnSpc>
                <a:spcPct val="70000"/>
              </a:lnSpc>
              <a:buFont typeface="+mj-lt"/>
              <a:buAutoNum type="arabicParenR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Berhasil dibangunnya web service Fundunity dengan fitur utama: Kelola Kampanye, Donasi Online, Rekapitulasi Dana, dan Notifikasi Status Donasi.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Font typeface="+mj-lt"/>
              <a:buAutoNum type="arabicParenR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Font typeface="+mj-lt"/>
              <a:buAutoNum type="arabicParenR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 mampu memproses transaksi donasi secara otomatis dan mengirimkan notifikasi bukti donasi ke email pengguna dalam waktu kurang dari 2 menit.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Font typeface="+mj-lt"/>
              <a:buAutoNum type="arabicParenR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Font typeface="+mj-lt"/>
              <a:buAutoNum type="arabicParenR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admin dan publik menampilkan grafik perkembangan donasi yang interaktif, sehingga memudahkan pengawasan.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Text Placeholder 464"/>
          <p:cNvSpPr>
            <a:spLocks noGrp="1"/>
          </p:cNvSpPr>
          <p:nvPr>
            <p:ph type="body" sz="quarter" idx="29"/>
          </p:nvPr>
        </p:nvSpPr>
        <p:spPr>
          <a:xfrm>
            <a:off x="251" y="22708020"/>
            <a:ext cx="26403252" cy="657225"/>
          </a:xfrm>
        </p:spPr>
        <p:txBody>
          <a:bodyPr/>
          <a:lstStyle/>
          <a:p>
            <a:r>
              <a:rPr lang="id-ID" altLang="en-US" dirty="0"/>
              <a:t> </a:t>
            </a:r>
            <a:endParaRPr lang="id-ID" altLang="en-US" dirty="0"/>
          </a:p>
        </p:txBody>
      </p:sp>
      <p:sp>
        <p:nvSpPr>
          <p:cNvPr id="466" name="Text Placeholder 465"/>
          <p:cNvSpPr>
            <a:spLocks noGrp="1"/>
          </p:cNvSpPr>
          <p:nvPr>
            <p:ph type="body" sz="quarter" idx="30"/>
          </p:nvPr>
        </p:nvSpPr>
        <p:spPr>
          <a:xfrm>
            <a:off x="24765" y="22520275"/>
            <a:ext cx="26416635" cy="2823210"/>
          </a:xfrm>
        </p:spPr>
        <p:txBody>
          <a:bodyPr>
            <a:noAutofit/>
          </a:bodyPr>
          <a:lstStyle/>
          <a:p>
            <a:pPr>
              <a:lnSpc>
                <a:spcPct val="30000"/>
              </a:lnSpc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30000"/>
              </a:lnSpc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Terima kasih kepada: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30000"/>
              </a:lnSpc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Dosen Pembimbing atas bimbingan dan arahan.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Studi Sistem Informasi, Fakultas Ilmu Komputer, Universitas Esa Unggul atas dukungan fasilitas.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Seluruh pihak yang telah membantu kelancaran penelitian ini.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3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Semoga bermanfaat bagi pengembangan ilmu dan masyarakat.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8" name="Text Placeholder 467"/>
          <p:cNvSpPr>
            <a:spLocks noGrp="1"/>
          </p:cNvSpPr>
          <p:nvPr>
            <p:ph type="body" sz="quarter" idx="96"/>
          </p:nvPr>
        </p:nvSpPr>
        <p:spPr>
          <a:xfrm>
            <a:off x="255845" y="11388824"/>
            <a:ext cx="13503822" cy="59912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Merancang dan membangun sebuah web service donasi bernama Fundunity yang responsif dan user-friendly.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Memudahkan donatur dalam menyalurkan dana secara online melalui berbagai metode pembayaran (seperti transfer bank, e-wallet).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Menyediakan fitur dashboard transparansi yang menampilkan secara real-time jumlah dana terkumpul dan laporan penggunaan dana kepada publik.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Menguji kinerja sistem Fundunity dari segi fungsionalitas, keamanan data, dan kemudahan akses bagi pengguna.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5" name="Text Placeholder 504"/>
          <p:cNvSpPr>
            <a:spLocks noGrp="1"/>
          </p:cNvSpPr>
          <p:nvPr>
            <p:ph type="body" sz="quarter" idx="150"/>
          </p:nvPr>
        </p:nvSpPr>
        <p:spPr/>
        <p:txBody>
          <a:bodyPr>
            <a:normAutofit fontScale="82500"/>
          </a:bodyPr>
          <a:lstStyle/>
          <a:p>
            <a:r>
              <a:rPr lang="id-ID" dirty="0" smtClean="0">
                <a:solidFill>
                  <a:schemeClr val="accent5">
                    <a:lumMod val="50000"/>
                  </a:schemeClr>
                </a:solidFill>
              </a:rPr>
              <a:t>Program Studi Teknik Informatika Fakultas Ilmu Komputer, Universitas Esa Unggul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06" name="Text Placeholder 505"/>
          <p:cNvSpPr>
            <a:spLocks noGrp="1"/>
          </p:cNvSpPr>
          <p:nvPr>
            <p:ph type="body" sz="quarter" idx="15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id-ID" altLang="en-US" sz="14400" b="1" dirty="0">
                <a:solidFill>
                  <a:schemeClr val="accent5">
                    <a:lumMod val="50000"/>
                  </a:schemeClr>
                </a:solidFill>
              </a:rPr>
              <a:t>FIQRI FATTHURROHMAN</a:t>
            </a:r>
            <a:endParaRPr lang="id-ID" altLang="en-US" sz="14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id-ID" altLang="en-US" i="1" dirty="0">
                <a:solidFill>
                  <a:schemeClr val="accent5">
                    <a:lumMod val="50000"/>
                  </a:schemeClr>
                </a:solidFill>
              </a:rPr>
              <a:t>fiqrifaturrohman36@student.esaunggul.acid</a:t>
            </a:r>
            <a:endParaRPr lang="id-ID" altLang="en-US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07" name="Text Placeholder 506"/>
          <p:cNvSpPr>
            <a:spLocks noGrp="1"/>
          </p:cNvSpPr>
          <p:nvPr>
            <p:ph type="body" sz="quarter" idx="153"/>
          </p:nvPr>
        </p:nvSpPr>
        <p:spPr/>
        <p:txBody>
          <a:bodyPr>
            <a:noAutofit/>
          </a:bodyPr>
          <a:lstStyle/>
          <a:p>
            <a:r>
              <a:rPr lang="en-US" altLang="id-ID" sz="3200" b="1" dirty="0">
                <a:solidFill>
                  <a:schemeClr val="accent5">
                    <a:lumMod val="50000"/>
                  </a:schemeClr>
                </a:solidFill>
              </a:rPr>
              <a:t>RANCANG BANGUN WEB SERVICE DONASI FUNDUNITY SEBAGAI PLATFORM </a:t>
            </a:r>
            <a:endParaRPr lang="en-US" altLang="id-ID" sz="32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id-ID" sz="3200" b="1" dirty="0">
                <a:solidFill>
                  <a:schemeClr val="accent5">
                    <a:lumMod val="50000"/>
                  </a:schemeClr>
                </a:solidFill>
              </a:rPr>
              <a:t>TRANSPARANSI DAN AKUNTABILITAS DANA SOSIAL</a:t>
            </a:r>
            <a:endParaRPr lang="en-US" altLang="id-ID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Text Placeholder 459"/>
          <p:cNvSpPr>
            <a:spLocks noGrp="1"/>
          </p:cNvSpPr>
          <p:nvPr>
            <p:ph type="body" sz="quarter" idx="20"/>
          </p:nvPr>
        </p:nvSpPr>
        <p:spPr>
          <a:xfrm>
            <a:off x="214911" y="18226055"/>
            <a:ext cx="13495295" cy="659288"/>
          </a:xfrm>
        </p:spPr>
        <p:txBody>
          <a:bodyPr/>
          <a:lstStyle/>
          <a:p>
            <a:r>
              <a:rPr lang="id-ID" dirty="0" smtClean="0"/>
              <a:t>METODE</a:t>
            </a:r>
            <a:endParaRPr lang="en-US" dirty="0"/>
          </a:p>
        </p:txBody>
      </p:sp>
      <p:sp>
        <p:nvSpPr>
          <p:cNvPr id="16" name="Text Placeholder 467"/>
          <p:cNvSpPr>
            <a:spLocks noGrp="1"/>
          </p:cNvSpPr>
          <p:nvPr>
            <p:ph type="body" sz="quarter" idx="96"/>
          </p:nvPr>
        </p:nvSpPr>
        <p:spPr>
          <a:xfrm>
            <a:off x="200025" y="18800958"/>
            <a:ext cx="13503822" cy="3683000"/>
          </a:xfrm>
        </p:spPr>
        <p:txBody>
          <a:bodyPr anchor="t" anchorCtr="0"/>
          <a:lstStyle/>
          <a:p>
            <a:pPr marL="457200" indent="-457200">
              <a:lnSpc>
                <a:spcPct val="6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Pengembangan: Waterfall (Analisis, Desain, Implementasi, Uji).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Pengumpulan Data: Studi literatur, observasi, dan wawancara dengan pengelola yayasan.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Perancangan Sistem: UML (Use Case Diagram) dan arsitektur Client-Server.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Teknologi: Frontend (HTML/CSS), Backend (PHP Laravel), </a:t>
            </a:r>
            <a:r>
              <a:rPr lang="id-ID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Menggunakan api email untuk </a:t>
            </a:r>
            <a:endParaRPr lang="id-ID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lnSpc>
                <a:spcPct val="60000"/>
              </a:lnSpc>
            </a:pPr>
            <a:endParaRPr lang="id-ID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60000"/>
              </a:lnSpc>
              <a:buNone/>
            </a:pPr>
            <a:r>
              <a:rPr lang="id-ID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notifikassi</a:t>
            </a: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6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60000"/>
              </a:lnSpc>
            </a:pPr>
            <a:r>
              <a:rPr lang="id-ID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Pengujian: Black-box Testing pada fitur Donasi, Laporan, dan Notifikasi.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Placeholder 463"/>
          <p:cNvSpPr>
            <a:spLocks noGrp="1"/>
          </p:cNvSpPr>
          <p:nvPr>
            <p:ph type="body" sz="quarter" idx="28"/>
          </p:nvPr>
        </p:nvSpPr>
        <p:spPr>
          <a:xfrm>
            <a:off x="24488207" y="18885344"/>
            <a:ext cx="11250645" cy="4337050"/>
          </a:xfrm>
        </p:spPr>
        <p:txBody>
          <a:bodyPr/>
          <a:lstStyle/>
          <a:p>
            <a:pPr marL="457200" indent="-457200">
              <a:lnSpc>
                <a:spcPct val="7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Azhar et al., "Pengembangan mobile apps untuk crowdfunding Yayasan Griya Sodaqo Indonesia," Transform. J. Pengabdi. Masy., vol. 19, no. 1, pp. 141–152, 2023.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Sasmoko et al., "Analyzing Database Optimization Strategies in Laravel for an Enhanced Learning Management," Procedia Comput. Sci., vol. 245, pp. 799–804, 2024.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eriod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Junaidi, "Optimization of Donation Management at Daarul Multazam Using a Laravel-Based Web Information System," Inf. Technol. Syst., vol. 3, no. 1, pp. 1–13, 2026.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70000"/>
              </a:lnSpc>
              <a:buAutoNum type="arabicPeriod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Placeholder 460"/>
          <p:cNvSpPr>
            <a:spLocks noGrp="1"/>
          </p:cNvSpPr>
          <p:nvPr>
            <p:ph type="body" sz="quarter" idx="25"/>
          </p:nvPr>
        </p:nvSpPr>
        <p:spPr>
          <a:xfrm>
            <a:off x="14141428" y="4089818"/>
            <a:ext cx="21646574" cy="659288"/>
          </a:xfrm>
        </p:spPr>
        <p:txBody>
          <a:bodyPr/>
          <a:lstStyle/>
          <a:p>
            <a:r>
              <a:rPr lang="id-ID" dirty="0" smtClean="0"/>
              <a:t>HASIL DAN DISKUSI</a:t>
            </a:r>
            <a:endParaRPr lang="en-US" dirty="0"/>
          </a:p>
        </p:txBody>
      </p:sp>
      <p:sp>
        <p:nvSpPr>
          <p:cNvPr id="20" name="Text Placeholder 463"/>
          <p:cNvSpPr>
            <a:spLocks noGrp="1"/>
          </p:cNvSpPr>
          <p:nvPr>
            <p:ph type="body" sz="quarter" idx="28"/>
          </p:nvPr>
        </p:nvSpPr>
        <p:spPr>
          <a:xfrm>
            <a:off x="14141427" y="4878371"/>
            <a:ext cx="21648922" cy="9761855"/>
          </a:xfrm>
        </p:spPr>
        <p:txBody>
          <a:bodyPr/>
          <a:lstStyle/>
          <a:p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Sistem: Berhasil dibangunnya web service Foundunity dengan antarmuka yang responsif dan mudah diakses melalui berbagai perangkat.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Unggulan: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Kelola Kampanye Donasi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Donasi Online dengan berbagai metode pembayaran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Rekapitulasi Dana secara real-time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Notifikasi Status Donasi melalui email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Pengujian Fungsional: Berdasarkan hasil Black-box Testing, seluruh fitur utama berjalan sesuai spesifikasi tanpa ditemukan error kritis. Proses donasi hingga notifikasi email dapat diselesaikan dalam waktu kurang dari </a:t>
            </a:r>
            <a:r>
              <a:rPr lang="id-ID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menit.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Transparansi: Admin dan publik dapat memantau grafik perkembangan donasi secara interaktif, sehingga meningkatkan kepercayaan donatur terhadap platform.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Diskusi: Fundunity berhasil menjawab permasalahan transparansi dan kemudahan akses dalam donasi digital. Fitur verifikasi kampanye dan pelaporan real-time menjadi nilai tambah yang membedakan dengan platform sejenis.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464"/>
          <p:cNvSpPr>
            <a:spLocks noGrp="1"/>
          </p:cNvSpPr>
          <p:nvPr>
            <p:ph type="body" sz="quarter" idx="29"/>
          </p:nvPr>
        </p:nvSpPr>
        <p:spPr>
          <a:xfrm>
            <a:off x="26695849" y="22310546"/>
            <a:ext cx="8994584" cy="657046"/>
          </a:xfrm>
        </p:spPr>
        <p:txBody>
          <a:bodyPr/>
          <a:lstStyle/>
          <a:p>
            <a:pPr algn="l"/>
            <a:r>
              <a:rPr lang="id-ID" dirty="0" smtClean="0"/>
              <a:t>Pembimbing I</a:t>
            </a:r>
            <a:endParaRPr lang="en-US" dirty="0"/>
          </a:p>
        </p:txBody>
      </p:sp>
      <p:sp>
        <p:nvSpPr>
          <p:cNvPr id="22" name="Text Placeholder 465"/>
          <p:cNvSpPr>
            <a:spLocks noGrp="1"/>
          </p:cNvSpPr>
          <p:nvPr>
            <p:ph type="body" sz="quarter" idx="30"/>
          </p:nvPr>
        </p:nvSpPr>
        <p:spPr>
          <a:xfrm>
            <a:off x="26701663" y="22889552"/>
            <a:ext cx="8999090" cy="758825"/>
          </a:xfrm>
        </p:spPr>
        <p:txBody>
          <a:bodyPr/>
          <a:lstStyle/>
          <a:p>
            <a:r>
              <a:rPr lang="en-US" altLang="id-ID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JEFRY SUNUPURWA ASRI , S.Kom., M.Kom.</a:t>
            </a:r>
            <a:endParaRPr lang="en-US" altLang="id-ID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Placeholder 464"/>
          <p:cNvSpPr>
            <a:spLocks noGrp="1"/>
          </p:cNvSpPr>
          <p:nvPr>
            <p:ph type="body" sz="quarter" idx="29"/>
          </p:nvPr>
        </p:nvSpPr>
        <p:spPr>
          <a:xfrm>
            <a:off x="26690035" y="23668053"/>
            <a:ext cx="8994584" cy="657225"/>
          </a:xfrm>
        </p:spPr>
        <p:txBody>
          <a:bodyPr/>
          <a:lstStyle/>
          <a:p>
            <a:pPr algn="l"/>
            <a:r>
              <a:rPr lang="id-ID" altLang="en-US" dirty="0"/>
              <a:t> </a:t>
            </a:r>
            <a:endParaRPr lang="id-ID" altLang="en-US" dirty="0"/>
          </a:p>
        </p:txBody>
      </p:sp>
      <p:sp>
        <p:nvSpPr>
          <p:cNvPr id="24" name="Text Placeholder 465"/>
          <p:cNvSpPr>
            <a:spLocks noGrp="1"/>
          </p:cNvSpPr>
          <p:nvPr>
            <p:ph type="body" sz="quarter" idx="30"/>
          </p:nvPr>
        </p:nvSpPr>
        <p:spPr>
          <a:xfrm>
            <a:off x="26695849" y="24251129"/>
            <a:ext cx="8999090" cy="758825"/>
          </a:xfrm>
        </p:spPr>
        <p:txBody>
          <a:bodyPr/>
          <a:lstStyle/>
          <a:p>
            <a:r>
              <a:rPr lang="id-ID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sterPresentations.com-70CMx100C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PosterPresentations.com-70CMx100CM</Template>
  <TotalTime>0</TotalTime>
  <Words>4208</Words>
  <Application>WPS Presentation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Times New Roman</vt:lpstr>
      <vt:lpstr>Trebuchet MS</vt:lpstr>
      <vt:lpstr>Calibri</vt:lpstr>
      <vt:lpstr>Microsoft YaHei</vt:lpstr>
      <vt:lpstr>Arial Unicode MS</vt:lpstr>
      <vt:lpstr>Wingdings</vt:lpstr>
      <vt:lpstr>PosterPresentations.com-70CMx100CM</vt:lpstr>
      <vt:lpstr>PowerPoint 演示文稿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CanterburyMedia</dc:creator>
  <dc:description>This template is the property of PosterPresentations.com. Call us if you need help with this poster template.
1-866-649-3004           
 (c)PosterPresentations.com</dc:description>
  <cp:lastModifiedBy>Fiqri Fathurrohman</cp:lastModifiedBy>
  <cp:revision>35</cp:revision>
  <dcterms:created xsi:type="dcterms:W3CDTF">2012-02-10T00:10:00Z</dcterms:created>
  <dcterms:modified xsi:type="dcterms:W3CDTF">2026-07-17T15:55:13Z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BAC2ECA4144242488B3E0D19A5152494_13</vt:lpwstr>
  </property>
  <property fmtid="{D5CDD505-2E9C-101B-9397-08002B2CF9AE}" pid="3" name="KSOProductBuildVer">
    <vt:lpwstr>1057-12.1.0.26880</vt:lpwstr>
  </property>
</Properties>
</file>